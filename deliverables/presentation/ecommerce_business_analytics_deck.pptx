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E-Commerce Business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EEBF5"/>
                </a:solidFill>
              </a:defRPr>
            </a:pPr>
            <a:r>
              <a:t>Executive findings and recommendations</a:t>
            </a:r>
            <a:br/>
            <a:r>
              <a:t>Online Retail | Dec 2010 - Dec 2011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60604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C6F7F"/>
                </a:solidFill>
              </a:defRPr>
            </a:pPr>
            <a:r>
              <a:t>Revenue</a:t>
            </a:r>
          </a:p>
          <a:p>
            <a:pPr algn="ctr">
              <a:defRPr sz="1800" b="1">
                <a:solidFill>
                  <a:srgbClr val="143A52"/>
                </a:solidFill>
              </a:defRPr>
            </a:pPr>
            <a:r>
              <a:t>GBP 10,247,219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9272" y="1234440"/>
            <a:ext cx="260604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C6F7F"/>
                </a:solidFill>
              </a:defRPr>
            </a:pPr>
            <a:r>
              <a:t>Orders</a:t>
            </a:r>
          </a:p>
          <a:p>
            <a:pPr algn="ctr">
              <a:defRPr sz="1800" b="1">
                <a:solidFill>
                  <a:srgbClr val="143A52"/>
                </a:solidFill>
              </a:defRPr>
            </a:pPr>
            <a:r>
              <a:t>19,773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9904" y="1234440"/>
            <a:ext cx="260604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C6F7F"/>
                </a:solidFill>
              </a:defRPr>
            </a:pPr>
            <a:r>
              <a:t>Customers</a:t>
            </a:r>
          </a:p>
          <a:p>
            <a:pPr algn="ctr">
              <a:defRPr sz="1800" b="1">
                <a:solidFill>
                  <a:srgbClr val="143A52"/>
                </a:solidFill>
              </a:defRPr>
            </a:pPr>
            <a:r>
              <a:t>4,334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0536" y="1234440"/>
            <a:ext cx="2606040" cy="914400"/>
          </a:xfrm>
          <a:prstGeom prst="roundRect">
            <a:avLst/>
          </a:prstGeom>
          <a:solidFill>
            <a:srgbClr val="EEF3F7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5C6F7F"/>
                </a:solidFill>
              </a:defRPr>
            </a:pPr>
            <a:r>
              <a:t>Countries</a:t>
            </a:r>
          </a:p>
          <a:p>
            <a:pPr algn="ctr">
              <a:defRPr sz="1800" b="1">
                <a:solidFill>
                  <a:srgbClr val="143A52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What mattered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3"/>
                </a:solidFill>
              </a:defRPr>
            </a:pPr>
            <a:r>
              <a:t>Revenue reached GBP 10,247,219 from 19,773 orders, with an average order value of GBP 518.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Peak trading month was 2011-11 at GBP 1,452,116, and September to November formed the strongest seasonal run-up into year-end.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The business is highly concentrated in the UK (85.1% of revenue), but the Netherlands, EIRE, Germany, and France form a credible international expansion shortlist.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Repeat customers account for 65.3% of identified customers, while the December 2010 cohort retained 50.2% of customers by month 11.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Returns and cancellations reduced value by GBP 893,980, or about 8.7% of clean revenue.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The highest-value promotional window is late morning through mid-afternoon, especially Thursdays at 12:00 and Tuesdays/Thursdays overall.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Sales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46575"/>
                </a:solidFill>
              </a:defRPr>
            </a:pPr>
            <a:r>
              <a:t>Revenue expanded sharply in the final quarter.</a:t>
            </a:r>
          </a:p>
        </p:txBody>
      </p:sp>
      <p:pic>
        <p:nvPicPr>
          <p:cNvPr id="4" name="Picture 3" descr="month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492240" cy="3742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1732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3"/>
                </a:solidFill>
              </a:defRPr>
            </a:pPr>
            <a:r>
              <a:t>Peak month: 2011-11 at GBP 1,452,116.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September to November created the strongest revenue run-rate.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Average order value reached GBP 518, confirming wholesale-sized baskets.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Products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46575"/>
                </a:solidFill>
              </a:defRPr>
            </a:pPr>
            <a:r>
              <a:t>A small set of hero SKUs carries outsized value.</a:t>
            </a:r>
          </a:p>
        </p:txBody>
      </p:sp>
      <p:pic>
        <p:nvPicPr>
          <p:cNvPr id="4" name="Picture 3" descr="top_product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669280" cy="3285727"/>
          </a:xfrm>
          <a:prstGeom prst="rect">
            <a:avLst/>
          </a:prstGeom>
        </p:spPr>
      </p:pic>
      <p:pic>
        <p:nvPicPr>
          <p:cNvPr id="5" name="Picture 4" descr="price_ba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80160"/>
            <a:ext cx="4846320" cy="2796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Customer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46575"/>
                </a:solidFill>
              </a:defRPr>
            </a:pPr>
            <a:r>
              <a:t>Repeat business is meaningful, but lapse risk is large.</a:t>
            </a:r>
          </a:p>
        </p:txBody>
      </p:sp>
      <p:pic>
        <p:nvPicPr>
          <p:cNvPr id="4" name="Picture 3" descr="rfm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486400" cy="3167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41732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3"/>
                </a:solidFill>
              </a:defRPr>
            </a:pPr>
            <a:r>
              <a:t>Repeat customers represent 65.3% of identified customers.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Champions and Loyal customers justify VIP retention motions.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At Risk / Lapsed is the largest segment and the biggest recovery opportunity.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Geographic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46575"/>
                </a:solidFill>
              </a:defRPr>
            </a:pPr>
            <a:r>
              <a:t>The UK dominates, but several export markets already prove demand.</a:t>
            </a:r>
          </a:p>
        </p:txBody>
      </p:sp>
      <p:pic>
        <p:nvPicPr>
          <p:cNvPr id="4" name="Picture 3" descr="top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3700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1732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3"/>
                </a:solidFill>
              </a:defRPr>
            </a:pPr>
            <a:r>
              <a:t>UK share of revenue: 85.1%.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Netherlands, EIRE, Germany, and France are the best initial expansion markets.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International growth can be selective rather than broad and expensive.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When to promote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46575"/>
                </a:solidFill>
              </a:defRPr>
            </a:pPr>
            <a:r>
              <a:t>High-value trading clusters around midweek business hours.</a:t>
            </a:r>
          </a:p>
        </p:txBody>
      </p:sp>
      <p:pic>
        <p:nvPicPr>
          <p:cNvPr id="4" name="Picture 3" descr="day_of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212080" cy="3011206"/>
          </a:xfrm>
          <a:prstGeom prst="rect">
            <a:avLst/>
          </a:prstGeom>
        </p:spPr>
      </p:pic>
      <p:pic>
        <p:nvPicPr>
          <p:cNvPr id="5" name="Picture 4" descr="hour_of_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5212080" cy="3012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Basket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46575"/>
                </a:solidFill>
              </a:defRPr>
            </a:pPr>
            <a:r>
              <a:t>Order values are healthy but skewed by a long right tail.</a:t>
            </a:r>
          </a:p>
        </p:txBody>
      </p:sp>
      <p:pic>
        <p:nvPicPr>
          <p:cNvPr id="4" name="Picture 3" descr="bask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126480" cy="3542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55448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3"/>
                </a:solidFill>
              </a:defRPr>
            </a:pPr>
            <a:r>
              <a:t>Average basket value: GBP 518.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Median basket value: GBP 302.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Average distinct items per order: 26.2.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Returns and operational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46575"/>
                </a:solidFill>
              </a:defRPr>
            </a:pPr>
            <a:r>
              <a:t>Returns are manageable overall but concentrated in a handful of codes.</a:t>
            </a:r>
          </a:p>
        </p:txBody>
      </p:sp>
      <p:pic>
        <p:nvPicPr>
          <p:cNvPr id="4" name="Picture 3" descr="top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669280" cy="3285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55448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3"/>
                </a:solidFill>
              </a:defRPr>
            </a:pPr>
            <a:r>
              <a:t>Returns impact: GBP 893,980.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Return-line rate vs total lines: 2.0%.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Manual and operational adjustment codes should be separated from real merchandise return root causes.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Retention and customer lifetime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46575"/>
                </a:solidFill>
              </a:defRPr>
            </a:pPr>
            <a:r>
              <a:t>Early repeat behavior determines long-run customer value.</a:t>
            </a:r>
          </a:p>
        </p:txBody>
      </p:sp>
      <p:pic>
        <p:nvPicPr>
          <p:cNvPr id="4" name="Picture 3" descr="cohor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789920" cy="58424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46575"/>
                </a:solidFill>
              </a:defRPr>
            </a:pPr>
            <a:r>
              <a:t>Baseline trend points to continued growth into early 2012.</a:t>
            </a:r>
          </a:p>
        </p:txBody>
      </p:sp>
      <p:pic>
        <p:nvPicPr>
          <p:cNvPr id="4" name="Picture 3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34793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60020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3"/>
                </a:solidFill>
              </a:defRPr>
            </a:pPr>
            <a:r>
              <a:t>Forecast 2012-01: GBP 1,213,637.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Forecast 2012-02: GBP 1,268,425.</a:t>
            </a:r>
          </a:p>
          <a:p>
            <a:pPr>
              <a:defRPr sz="1600">
                <a:solidFill>
                  <a:srgbClr val="1F2933"/>
                </a:solidFill>
              </a:defRPr>
            </a:pPr>
            <a:r>
              <a:t>Treat as a baseline trend, then refine with promotion and seasonality assumptions.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3A52"/>
                </a:solidFill>
              </a:defRPr>
            </a:pPr>
            <a:r>
              <a:t>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46575"/>
                </a:solidFill>
              </a:defRPr>
            </a:pPr>
            <a:r>
              <a:t>What the business should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3"/>
                </a:solidFill>
              </a:defRPr>
            </a:pPr>
            <a:r>
              <a:t>Defend and scale top giftable SKUs such as REGENCY CAKESTAND 3 TIER, PARTY BUNTING, and JUMBO BAG RED RETROSPOT with priority inventory and featured placement.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Target high-value repeat buyers with replenishment and seasonal launch campaigns 30-45 days after purchase to lift cohort retention.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Concentrate promotional sends on Tuesday through Thursday and schedule merchandising pushes between 10:00 and 15:00 when conversion value is strongest.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Audit the unusually large return lines and manual adjustment codes separately so operational noise does not hide true merchandise returns.</a:t>
            </a:r>
          </a:p>
          <a:p>
            <a:pPr>
              <a:defRPr sz="1800">
                <a:solidFill>
                  <a:srgbClr val="1F2933"/>
                </a:solidFill>
              </a:defRPr>
            </a:pPr>
            <a:r>
              <a:t>Prioritize expansion tests in the Netherlands, EIRE, Germany, and France before broader international rollout because they already contribute meaningful revenue at low customer counts.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